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284A420-F50C-4C2C-B88E-E6F4EF504B6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93A6D2E-5228-4998-9E24-EFCCA024675E}"/>
              </a:ext>
            </a:extLst>
          </p:cNvPr>
          <p:cNvSpPr/>
          <p:nvPr/>
        </p:nvSpPr>
        <p:spPr>
          <a:xfrm>
            <a:off x="0" y="-2"/>
            <a:ext cx="12188952" cy="3567547"/>
          </a:xfrm>
          <a:prstGeom prst="rect">
            <a:avLst/>
          </a:prstGeom>
          <a:ln>
            <a:noFill/>
          </a:ln>
          <a:effectLst>
            <a:outerShdw blurRad="228600" dist="152400" dir="54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D878C-9930-44AF-AE18-FCA0DAE10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802" y="852055"/>
            <a:ext cx="10380572" cy="2581463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2D608-1F8D-47BB-B595-43B7BEACA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802" y="3754582"/>
            <a:ext cx="10380572" cy="2244436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3C1DA-DAC9-422B-9450-54A7E03B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EE12-F28E-4B03-A404-A8FCAE0F6316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9A2B9-3E23-4C08-A5CE-69886121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2E61E-26F7-4369-8F2F-6D3CDF644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DB48DB-8E25-4F2F-8C02-5B793937255F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2BA7E3-7313-49C8-A245-A85BDEB13EB3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007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2CCA-8D32-44C3-809A-54D0245B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89041-349C-49F8-B155-6F5862873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9" y="2750126"/>
            <a:ext cx="10381205" cy="32617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5E088-72B1-425B-B53B-81B134826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799E-EB8E-4038-8063-81BB57C732D4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80451-8BF9-48B2-8E6A-9E15C833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196E-3A76-4417-BFD8-4400D16E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34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CFB183B-99B9-4420-AB2D-0705685105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6DF62B9-1876-4EEB-929D-B46F98265E34}"/>
              </a:ext>
            </a:extLst>
          </p:cNvPr>
          <p:cNvSpPr/>
          <p:nvPr/>
        </p:nvSpPr>
        <p:spPr>
          <a:xfrm>
            <a:off x="0" y="-2"/>
            <a:ext cx="12192000" cy="3862064"/>
          </a:xfrm>
          <a:prstGeom prst="rect">
            <a:avLst/>
          </a:prstGeom>
          <a:ln>
            <a:noFill/>
          </a:ln>
          <a:effectLst>
            <a:outerShdw blurRad="203200" dist="127000" dir="5460000" sx="96000" sy="96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F0E4DD-839A-4BD2-B5FA-FF319E87D037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92C2FB-E558-4132-AAF5-EFCED014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2056"/>
            <a:ext cx="10380572" cy="257694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20424-DA4E-467F-AC0A-D44192A54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7" y="4202832"/>
            <a:ext cx="10395116" cy="178926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39F9C-ADA9-4225-9D74-193A8894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217A73C3-B243-44D3-809D-EF8FDFBD85D4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7DEC-B96B-4D69-8B62-5156FDA6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F4AC1-9934-43DC-B9AC-322612A74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BDA60A-39CD-41D4-8AE5-0FB7FD78559C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81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AF84-4A19-4D9A-9B82-46BCBED4F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373DD-26AC-4E69-A17C-538D9C7C6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1800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30C23-A75F-45DF-BCCF-760C533AC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7092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C3974-73EC-4F1B-9E92-0E279ABE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C9B6D3E3-28E2-4380-A113-67698215C5F8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0B3F2-3F28-42A3-9701-A6F01F1B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7A2FC-50E7-4972-9F28-E3AC4EF9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50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5F85-77E6-4F6D-9FFA-5D76201B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872836"/>
            <a:ext cx="10380572" cy="14270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C0DAE-58D1-45D9-9FC4-B0864E332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1" y="2713326"/>
            <a:ext cx="5023424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E63D7-9812-4EA1-A0A2-14D974311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801" y="3706091"/>
            <a:ext cx="5023424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5055B-04A0-47D3-90ED-135025F85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4211" y="2713326"/>
            <a:ext cx="5048163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36E6E-8F64-49E6-B57C-86CF92D16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4211" y="3706091"/>
            <a:ext cx="5048163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FBEAD-2827-40DA-8338-2D691325F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A9EFCB61-04AD-47C9-BF79-2BD8B9CEC07A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4B88D-9C6E-4A88-985C-3ED5057A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0B6A32-2D15-425F-B6A9-146AFB5C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9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81B7C-9BD5-4CF8-BAEB-A6CB78DA2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5F1D3-3353-4FC6-8854-51B0BFFD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35E0C-D585-492F-8146-7493F4086301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26CE6-6BEB-46DB-BD4B-9B8AE89A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81BCCC-8B3F-40B3-91D5-52E53B2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092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C0FBB6-4CCA-4358-9DD5-CDF2173E63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02559A-671A-4FDE-82C3-1CF8CFCF1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48390-48B5-49AB-B019-A7C8FB8C31F6}" type="datetime1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14275-250D-437E-BAF1-5BB3CDE6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93BDE-2A52-4AA7-B222-0F25570EB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6B771E-DDF7-430C-9462-BA1D3742C84E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041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F9A0B00-F6ED-4C3A-97DC-C2AF9D62EE8B}"/>
              </a:ext>
            </a:extLst>
          </p:cNvPr>
          <p:cNvSpPr/>
          <p:nvPr/>
        </p:nvSpPr>
        <p:spPr>
          <a:xfrm>
            <a:off x="79067" y="0"/>
            <a:ext cx="4998624" cy="6858000"/>
          </a:xfrm>
          <a:prstGeom prst="rect">
            <a:avLst/>
          </a:prstGeom>
          <a:ln>
            <a:noFill/>
          </a:ln>
          <a:effectLst>
            <a:outerShdw blurRad="228600" dist="1143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3" name="Rectangle 122">
            <a:extLst>
              <a:ext uri="{FF2B5EF4-FFF2-40B4-BE49-F238E27FC236}">
                <a16:creationId xmlns:a16="http://schemas.microsoft.com/office/drawing/2014/main" id="{3B025FD9-B9EF-4F5C-B67D-3485253B7A6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F545CD-A200-4C66-BF9A-9B839D0CE648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10916-EEE9-418C-B24A-EC09A6D22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537" y="872836"/>
            <a:ext cx="4560525" cy="228105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3A0F4-FD98-409E-B41A-5F4352C6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781" y="872837"/>
            <a:ext cx="4520593" cy="5140036"/>
          </a:xfrm>
        </p:spPr>
        <p:txBody>
          <a:bodyPr>
            <a:normAutofit/>
          </a:bodyPr>
          <a:lstStyle>
            <a:lvl1pPr algn="l">
              <a:defRPr sz="2800"/>
            </a:lvl1pPr>
            <a:lvl2pPr algn="l">
              <a:defRPr sz="2400"/>
            </a:lvl2pPr>
            <a:lvl3pPr algn="l">
              <a:defRPr sz="2000"/>
            </a:lvl3pPr>
            <a:lvl4pPr algn="l">
              <a:defRPr sz="1800"/>
            </a:lvl4pPr>
            <a:lvl5pPr algn="l"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ABF6F-6E7C-4B3F-B205-09361DA58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0537" y="3442854"/>
            <a:ext cx="4560525" cy="257694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198D-8500-4277-AA5D-3C3D8FDDC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962E767E-8A14-4E70-91B9-2101CBC4D7BD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D219F-027A-4632-9FB0-BD098D56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79253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0C82B-C7DC-434D-8768-DE9D1176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8CCC603-9605-46C8-9034-8DAE6AC40DD9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BBF1D9-8F8F-45A3-BDB4-952D0FB20A4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399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CBEB8797-B080-41A6-B14E-8DC7F0F27E4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C6C7272-A552-46B3-992F-F5ADD5AA2443}"/>
              </a:ext>
            </a:extLst>
          </p:cNvPr>
          <p:cNvSpPr/>
          <p:nvPr/>
        </p:nvSpPr>
        <p:spPr>
          <a:xfrm>
            <a:off x="-1" y="0"/>
            <a:ext cx="6087677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F6AD1-1E6C-46AF-8431-6627180F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733" y="858981"/>
            <a:ext cx="4556749" cy="2281052"/>
          </a:xfrm>
        </p:spPr>
        <p:txBody>
          <a:bodyPr anchor="b"/>
          <a:lstStyle>
            <a:lvl1pPr>
              <a:def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A91F9-760E-4CF4-8A03-FA1482C35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59826" y="865909"/>
            <a:ext cx="4582548" cy="512618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9A9D5-BA6E-4C4A-88A0-5BB86958B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733" y="3429000"/>
            <a:ext cx="4556749" cy="2590800"/>
          </a:xfrm>
        </p:spPr>
        <p:txBody>
          <a:bodyPr/>
          <a:lstStyle>
            <a:lvl1pPr marL="0" indent="0"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6899E-70A1-4EFB-87EC-6C4F3BC0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01AF0C4B-5A4A-45CA-ABEC-10F107160D33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34B05-4931-4BC8-BD43-9E6B944B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ABE5D-7EA4-4D33-B23E-52E640CB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F0DB5EA-94EC-4DB5-B8E5-B454005C1552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99FF82-B951-46E6-AEA7-0993C867FB6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214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69F7-12D5-40F0-88F0-33D60AEB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BB511-E79D-41D8-AF91-14A5C803F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05DFA-4DAF-4B30-8032-503081AE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B8189-0D9C-48A6-9FA3-862227B094CE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4FBF5-16C0-46A0-916A-4910C1B6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EA6-7E48-454C-887A-0EF3356F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10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312BAB-A07B-4FEA-8EB5-A7BD8B24C6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45A432-7E52-48B5-A8BB-13EED592E35A}"/>
              </a:ext>
            </a:extLst>
          </p:cNvPr>
          <p:cNvSpPr/>
          <p:nvPr/>
        </p:nvSpPr>
        <p:spPr>
          <a:xfrm>
            <a:off x="7813964" y="0"/>
            <a:ext cx="4378036" cy="6858000"/>
          </a:xfrm>
          <a:prstGeom prst="rect">
            <a:avLst/>
          </a:prstGeom>
          <a:ln>
            <a:noFill/>
          </a:ln>
          <a:effectLst>
            <a:outerShdw blurRad="254000" dist="152400" dir="10680000" sx="95000" sy="95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6288B6-16BD-4DEE-9187-C78963ED1D8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259F7B-ED77-4251-A424-93712C6F5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139544" y="872836"/>
            <a:ext cx="2521527" cy="5119256"/>
          </a:xfrm>
        </p:spPr>
        <p:txBody>
          <a:bodyPr vert="eaVert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95692-9BD0-4EB9-B344-9A6945DB0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6746" y="872836"/>
            <a:ext cx="6634169" cy="5119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28527-7CED-4CF3-A260-649685D2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26ADDCAE-6443-42C3-9C19-F95985500186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17F65-E517-4B50-B559-FD7D59F3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581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D40B7-46EE-49D9-BE89-7E101F80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5031BF-2EA5-4128-B6AF-2D0F5A10109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57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38E7D36-B1C9-463C-983F-AEA5810A60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B9A221-B33F-47C2-85FF-2C8F363D797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0E0EF1-7626-4514-9337-271DD661B1E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5F0B1492-9A00-4F80-8771-0BB2C2C4353C}"/>
              </a:ext>
            </a:extLst>
          </p:cNvPr>
          <p:cNvSpPr/>
          <p:nvPr/>
        </p:nvSpPr>
        <p:spPr>
          <a:xfrm>
            <a:off x="0" y="-2"/>
            <a:ext cx="12188952" cy="2544415"/>
          </a:xfrm>
          <a:prstGeom prst="rect">
            <a:avLst/>
          </a:prstGeom>
          <a:ln>
            <a:noFill/>
          </a:ln>
          <a:effectLst>
            <a:outerShdw blurRad="190500" dist="1270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62805-4F8E-44FE-905C-2C3F1A2B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5021C-0380-49AA-ADA1-A8B473FBF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9" y="2750126"/>
            <a:ext cx="10381205" cy="3261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A2409-F298-40BF-BFAC-65A3E71D2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2481" y="624007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989806E-8E94-473C-AEE7-BE6F15F85533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799D8-4DBF-4BB2-8D2B-65592ADC90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481" y="23619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99666-11C3-48A1-966C-439EBF9D9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9782" y="235881"/>
            <a:ext cx="75674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smtClean="0">
                <a:solidFill>
                  <a:schemeClr val="tx1"/>
                </a:solidFill>
                <a:latin typeface="Bierstadt" panose="020B0504020202020204" pitchFamily="34" charset="0"/>
                <a:ea typeface="+mn-ea"/>
                <a:cs typeface="+mn-cs"/>
              </a:defRPr>
            </a:lvl1pPr>
          </a:lstStyle>
          <a:p>
            <a:fld id="{B4A918BC-4D43-4B42-B3C0-E7EBE25E6AF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FAC7B62-8ACC-41ED-80AB-8D1CDF38B9E4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5FF525-9A83-4625-99D9-B267BDE077E7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35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38E7D36-B1C9-463C-983F-AEA5810A6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B9A221-B33F-47C2-85FF-2C8F363D7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D0E0EF1-7626-4514-9337-271DD661B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F0B1492-9A00-4F80-8771-0BB2C2C43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88952" cy="2544415"/>
          </a:xfrm>
          <a:prstGeom prst="rect">
            <a:avLst/>
          </a:prstGeom>
          <a:ln>
            <a:noFill/>
          </a:ln>
          <a:effectLst>
            <a:outerShdw blurRad="190500" dist="1270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FAC7B62-8ACC-41ED-80AB-8D1CDF38B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45FF525-9A83-4625-99D9-B267BDE07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E8F40E-5D44-1E7B-8B9B-ED47844DC9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78" r="29373" b="-2"/>
          <a:stretch>
            <a:fillRect/>
          </a:stretch>
        </p:blipFill>
        <p:spPr>
          <a:xfrm>
            <a:off x="-1044642" y="-9333"/>
            <a:ext cx="6374929" cy="685800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3FBA02C-51FF-3AAD-1A23-03F2498F5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9739" y="488173"/>
            <a:ext cx="4435915" cy="424019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1" dirty="0"/>
          </a:p>
          <a:p>
            <a:pPr algn="ctr">
              <a:lnSpc>
                <a:spcPct val="100000"/>
              </a:lnSpc>
            </a:pPr>
            <a:r>
              <a:rPr lang="en-US" sz="1600" b="1" dirty="0" err="1"/>
              <a:t>Programme</a:t>
            </a:r>
            <a:endParaRPr lang="en-US" sz="1600" b="1" dirty="0"/>
          </a:p>
          <a:p>
            <a:pPr algn="ctr">
              <a:lnSpc>
                <a:spcPct val="100000"/>
              </a:lnSpc>
            </a:pPr>
            <a:r>
              <a:rPr lang="en-US" sz="1600" dirty="0"/>
              <a:t>Master in Business Analytics &amp; Data Science</a:t>
            </a:r>
          </a:p>
          <a:p>
            <a:pPr algn="ctr">
              <a:lnSpc>
                <a:spcPct val="100000"/>
              </a:lnSpc>
            </a:pPr>
            <a:r>
              <a:rPr lang="en-US" sz="1600" b="1" dirty="0"/>
              <a:t>Institution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EU Business School Munich</a:t>
            </a:r>
          </a:p>
          <a:p>
            <a:pPr algn="ctr">
              <a:lnSpc>
                <a:spcPct val="100000"/>
              </a:lnSpc>
            </a:pPr>
            <a:r>
              <a:rPr lang="en-US" sz="1600" b="1" dirty="0"/>
              <a:t>Lecturer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Dr. Zainab Usman</a:t>
            </a:r>
          </a:p>
          <a:p>
            <a:pPr algn="ctr">
              <a:lnSpc>
                <a:spcPct val="100000"/>
              </a:lnSpc>
            </a:pPr>
            <a:r>
              <a:rPr lang="en-US" sz="1600" b="1" dirty="0"/>
              <a:t>Academic Year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Spring Semester 2026 (Term III)</a:t>
            </a:r>
          </a:p>
          <a:p>
            <a:pPr algn="ctr">
              <a:lnSpc>
                <a:spcPct val="100000"/>
              </a:lnSpc>
            </a:pPr>
            <a:r>
              <a:rPr lang="en-US" sz="1600" b="1" dirty="0"/>
              <a:t>Technologies Used</a:t>
            </a:r>
          </a:p>
          <a:p>
            <a:pPr algn="ctr">
              <a:lnSpc>
                <a:spcPct val="100000"/>
              </a:lnSpc>
            </a:pPr>
            <a:r>
              <a:rPr lang="en-US" sz="1600" dirty="0"/>
              <a:t>Python | FMP API | Pandas | PostgreSQL | Power BI | Windows Task Scheduler</a:t>
            </a:r>
          </a:p>
          <a:p>
            <a:pPr algn="ctr">
              <a:lnSpc>
                <a:spcPct val="100000"/>
              </a:lnSpc>
            </a:pPr>
            <a:endParaRPr lang="en-US" sz="1600" b="1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58B1629-F209-47B0-BA59-6BD937DBB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2F437F9-1959-2F07-2372-C84AB8B43704}"/>
              </a:ext>
            </a:extLst>
          </p:cNvPr>
          <p:cNvSpPr txBox="1"/>
          <p:nvPr/>
        </p:nvSpPr>
        <p:spPr>
          <a:xfrm>
            <a:off x="-1773543" y="4824184"/>
            <a:ext cx="881932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b="1" dirty="0"/>
              <a:t>Business Intelligence Final Assignment</a:t>
            </a:r>
          </a:p>
          <a:p>
            <a:pPr algn="ctr">
              <a:spcAft>
                <a:spcPts val="600"/>
              </a:spcAft>
            </a:pPr>
            <a:r>
              <a:rPr lang="en-IN" dirty="0"/>
              <a:t>MADSC301 – Business Intelligence</a:t>
            </a:r>
          </a:p>
          <a:p>
            <a:pPr algn="ctr">
              <a:spcAft>
                <a:spcPts val="600"/>
              </a:spcAft>
            </a:pPr>
            <a:r>
              <a:rPr lang="en-IN" b="1" dirty="0"/>
              <a:t>Submitted By: </a:t>
            </a:r>
            <a:r>
              <a:rPr lang="en-IN" dirty="0"/>
              <a:t>Abin Benno</a:t>
            </a:r>
          </a:p>
          <a:p>
            <a:pPr algn="ctr">
              <a:spcAft>
                <a:spcPts val="600"/>
              </a:spcAft>
            </a:pPr>
            <a:r>
              <a:rPr lang="en-IN" b="1" dirty="0"/>
              <a:t>Student ID:</a:t>
            </a:r>
            <a:r>
              <a:rPr lang="en-IN" dirty="0"/>
              <a:t> 25061274</a:t>
            </a:r>
          </a:p>
          <a:p>
            <a:pPr algn="ctr">
              <a:spcAft>
                <a:spcPts val="600"/>
              </a:spcAft>
            </a:pP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4AF07E-57DA-B65C-5E1C-50A6C0385A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970" y="248712"/>
            <a:ext cx="5765442" cy="2423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b="1" dirty="0"/>
              <a:t>AUTOMATED STOCK MARKET ETL PIPELINE</a:t>
            </a:r>
            <a:br>
              <a:rPr lang="en-US" sz="3400" b="1" dirty="0"/>
            </a:br>
            <a:endParaRPr lang="en-US" sz="3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E05C19-2772-0116-D850-EF990797A952}"/>
              </a:ext>
            </a:extLst>
          </p:cNvPr>
          <p:cNvSpPr txBox="1"/>
          <p:nvPr/>
        </p:nvSpPr>
        <p:spPr>
          <a:xfrm>
            <a:off x="6279739" y="5179345"/>
            <a:ext cx="46533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GitHub Repository:</a:t>
            </a:r>
          </a:p>
          <a:p>
            <a:endParaRPr lang="en-US" dirty="0"/>
          </a:p>
          <a:p>
            <a:r>
              <a:rPr lang="en-US" dirty="0"/>
              <a:t>https://github.com/abinb23/stock-market-etl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8559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74A50C2-63EF-22D1-8E0F-2510E266A9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78" r="29373" b="-2"/>
          <a:stretch>
            <a:fillRect/>
          </a:stretch>
        </p:blipFill>
        <p:spPr>
          <a:xfrm rot="10800000">
            <a:off x="7963764" y="0"/>
            <a:ext cx="6374929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DDBE8A-A0AD-279C-A1C3-A1464156C376}"/>
              </a:ext>
            </a:extLst>
          </p:cNvPr>
          <p:cNvSpPr txBox="1">
            <a:spLocks/>
          </p:cNvSpPr>
          <p:nvPr/>
        </p:nvSpPr>
        <p:spPr>
          <a:xfrm>
            <a:off x="630649" y="285304"/>
            <a:ext cx="10520580" cy="178308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/>
              <a:t>Solution Architecture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0CEE9-35C6-17B9-B426-A31E02B0A2AD}"/>
              </a:ext>
            </a:extLst>
          </p:cNvPr>
          <p:cNvSpPr txBox="1">
            <a:spLocks/>
          </p:cNvSpPr>
          <p:nvPr/>
        </p:nvSpPr>
        <p:spPr>
          <a:xfrm>
            <a:off x="4641703" y="1386495"/>
            <a:ext cx="7010601" cy="3054095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b="1" dirty="0"/>
              <a:t>Business Problem</a:t>
            </a:r>
          </a:p>
          <a:p>
            <a:r>
              <a:rPr lang="en-US" dirty="0"/>
              <a:t>Stock market updates are crucial for investors and analysts to track market performance and spot trends. Manual collection and reporting is time consuming and ineffective.</a:t>
            </a:r>
          </a:p>
          <a:p>
            <a:r>
              <a:rPr lang="en-IN" b="1" dirty="0"/>
              <a:t>Proposed Solution</a:t>
            </a:r>
          </a:p>
          <a:p>
            <a:pPr algn="just"/>
            <a:r>
              <a:rPr lang="en-US" dirty="0"/>
              <a:t>Create an automated ETL pipeline to pull Apple market data and then transform and load the data into PostgreSQL and create the business insights using Power BI.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7B128F-073D-6DC9-FBFF-134786856CA2}"/>
              </a:ext>
            </a:extLst>
          </p:cNvPr>
          <p:cNvSpPr txBox="1"/>
          <p:nvPr/>
        </p:nvSpPr>
        <p:spPr>
          <a:xfrm>
            <a:off x="466298" y="1386495"/>
            <a:ext cx="360117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ETL Architecture</a:t>
            </a:r>
          </a:p>
          <a:p>
            <a:pPr algn="ctr"/>
            <a:endParaRPr lang="en-IN" sz="1600" b="1" dirty="0"/>
          </a:p>
          <a:p>
            <a:pPr algn="ctr"/>
            <a:r>
              <a:rPr lang="en-IN" sz="1600" dirty="0"/>
              <a:t>Financial </a:t>
            </a:r>
            <a:r>
              <a:rPr lang="en-IN" sz="1600" dirty="0" err="1"/>
              <a:t>Modeling</a:t>
            </a:r>
            <a:r>
              <a:rPr lang="en-IN" sz="1600" dirty="0"/>
              <a:t> Prep (FMP) API</a:t>
            </a:r>
            <a:br>
              <a:rPr lang="en-IN" sz="1600" dirty="0"/>
            </a:br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dirty="0"/>
              <a:t>Extract (Python)</a:t>
            </a:r>
            <a:br>
              <a:rPr lang="en-IN" sz="1600" dirty="0"/>
            </a:br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dirty="0"/>
              <a:t>Raw JSON Data</a:t>
            </a:r>
            <a:br>
              <a:rPr lang="en-IN" sz="1600" dirty="0"/>
            </a:br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dirty="0"/>
              <a:t>Transform (Pandas)</a:t>
            </a:r>
            <a:br>
              <a:rPr lang="en-IN" sz="1600" dirty="0"/>
            </a:br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dirty="0"/>
              <a:t>Cleaned Dataset</a:t>
            </a:r>
            <a:br>
              <a:rPr lang="en-IN" sz="1600" dirty="0"/>
            </a:br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dirty="0"/>
              <a:t>Load into PostgreSQL</a:t>
            </a:r>
            <a:br>
              <a:rPr lang="en-IN" sz="1600" dirty="0"/>
            </a:br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dirty="0"/>
              <a:t>Windows Task Scheduler</a:t>
            </a:r>
            <a:br>
              <a:rPr lang="en-IN" sz="1600" dirty="0"/>
            </a:br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dirty="0"/>
              <a:t>Automatic Daily ETL Execution</a:t>
            </a:r>
            <a:br>
              <a:rPr lang="en-IN" sz="1600" dirty="0"/>
            </a:br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dirty="0"/>
              <a:t>Updated PostgreSQL Database</a:t>
            </a:r>
            <a:br>
              <a:rPr lang="en-IN" sz="1600" dirty="0"/>
            </a:br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dirty="0"/>
              <a:t>Power BI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515F76-4101-CA74-D166-914C3882FA79}"/>
              </a:ext>
            </a:extLst>
          </p:cNvPr>
          <p:cNvSpPr txBox="1"/>
          <p:nvPr/>
        </p:nvSpPr>
        <p:spPr>
          <a:xfrm>
            <a:off x="4664682" y="4541371"/>
            <a:ext cx="34823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Technologies</a:t>
            </a:r>
          </a:p>
          <a:p>
            <a:r>
              <a:rPr lang="en-IN" dirty="0"/>
              <a:t>• Python</a:t>
            </a:r>
            <a:br>
              <a:rPr lang="en-IN" dirty="0"/>
            </a:br>
            <a:r>
              <a:rPr lang="en-IN" dirty="0"/>
              <a:t>• Requests</a:t>
            </a:r>
            <a:br>
              <a:rPr lang="en-IN" dirty="0"/>
            </a:br>
            <a:r>
              <a:rPr lang="en-IN" dirty="0"/>
              <a:t>• Pandas</a:t>
            </a:r>
            <a:br>
              <a:rPr lang="en-IN" dirty="0"/>
            </a:br>
            <a:r>
              <a:rPr lang="en-IN" dirty="0"/>
              <a:t>• PostgreSQL</a:t>
            </a:r>
            <a:br>
              <a:rPr lang="en-IN" dirty="0"/>
            </a:br>
            <a:r>
              <a:rPr lang="en-IN" dirty="0"/>
              <a:t>• Power BI</a:t>
            </a:r>
            <a:br>
              <a:rPr lang="en-IN" dirty="0"/>
            </a:br>
            <a:r>
              <a:rPr lang="en-IN" dirty="0"/>
              <a:t>• Windows Task Scheduler</a:t>
            </a:r>
          </a:p>
        </p:txBody>
      </p:sp>
    </p:spTree>
    <p:extLst>
      <p:ext uri="{BB962C8B-B14F-4D97-AF65-F5344CB8AC3E}">
        <p14:creationId xmlns:p14="http://schemas.microsoft.com/office/powerpoint/2010/main" val="3220443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16812FF-221D-81D9-9E1C-0CF09F39CA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78" r="29373" b="-2"/>
          <a:stretch>
            <a:fillRect/>
          </a:stretch>
        </p:blipFill>
        <p:spPr>
          <a:xfrm>
            <a:off x="-1546879" y="-2"/>
            <a:ext cx="6374929" cy="68580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BC0418-9EEB-399B-3FD1-7ACF4505CD7B}"/>
              </a:ext>
            </a:extLst>
          </p:cNvPr>
          <p:cNvSpPr txBox="1"/>
          <p:nvPr/>
        </p:nvSpPr>
        <p:spPr>
          <a:xfrm>
            <a:off x="1640586" y="418687"/>
            <a:ext cx="9185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Dashboard Analysis &amp; Business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CE9E3-2676-119E-5250-B19478CF1947}"/>
              </a:ext>
            </a:extLst>
          </p:cNvPr>
          <p:cNvSpPr txBox="1"/>
          <p:nvPr/>
        </p:nvSpPr>
        <p:spPr>
          <a:xfrm>
            <a:off x="5620512" y="4737747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/>
              <a:t>Key Performance Indicators</a:t>
            </a:r>
          </a:p>
          <a:p>
            <a:pPr algn="ctr">
              <a:buNone/>
            </a:pPr>
            <a:endParaRPr lang="en-IN" b="1" dirty="0"/>
          </a:p>
          <a:p>
            <a:pPr algn="ctr">
              <a:buNone/>
            </a:pPr>
            <a:r>
              <a:rPr lang="en-IN" dirty="0"/>
              <a:t>Highest Closing Price: 315.20</a:t>
            </a:r>
          </a:p>
          <a:p>
            <a:pPr algn="ctr">
              <a:buNone/>
            </a:pPr>
            <a:r>
              <a:rPr lang="en-IN" dirty="0"/>
              <a:t>Lowest Price: 124.17</a:t>
            </a:r>
          </a:p>
          <a:p>
            <a:pPr algn="ctr">
              <a:buNone/>
            </a:pPr>
            <a:r>
              <a:rPr lang="en-IN" dirty="0"/>
              <a:t>Total Trading Volume: 82 Billion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06E7E5-AD5A-ACB3-D8BA-88418FD8FAA0}"/>
              </a:ext>
            </a:extLst>
          </p:cNvPr>
          <p:cNvSpPr txBox="1"/>
          <p:nvPr/>
        </p:nvSpPr>
        <p:spPr>
          <a:xfrm>
            <a:off x="312900" y="1602439"/>
            <a:ext cx="665006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Key Insights</a:t>
            </a:r>
          </a:p>
          <a:p>
            <a:pPr algn="ctr"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Apple Stock Price Trend</a:t>
            </a:r>
          </a:p>
          <a:p>
            <a:pPr>
              <a:buNone/>
            </a:pPr>
            <a:r>
              <a:rPr lang="en-IN" dirty="0"/>
              <a:t>• Shows overall market performance over time.</a:t>
            </a:r>
            <a:br>
              <a:rPr lang="en-IN" dirty="0"/>
            </a:br>
            <a:r>
              <a:rPr lang="en-IN" dirty="0"/>
              <a:t>• Indicates long-term growth trends.</a:t>
            </a:r>
            <a:br>
              <a:rPr lang="en-IN" dirty="0"/>
            </a:br>
            <a:r>
              <a:rPr lang="en-IN" dirty="0"/>
              <a:t>• Useful for investment analysis.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Trading Volume Trend</a:t>
            </a:r>
          </a:p>
          <a:p>
            <a:pPr>
              <a:buNone/>
            </a:pPr>
            <a:r>
              <a:rPr lang="en-IN" dirty="0"/>
              <a:t>• Highlights investor activity.</a:t>
            </a:r>
            <a:br>
              <a:rPr lang="en-IN" dirty="0"/>
            </a:br>
            <a:r>
              <a:rPr lang="en-IN" dirty="0"/>
              <a:t>• Volume spikes periods of increased market interest.</a:t>
            </a:r>
            <a:br>
              <a:rPr lang="en-IN" dirty="0"/>
            </a:br>
            <a:r>
              <a:rPr lang="en-IN" dirty="0"/>
              <a:t>• Helps identify unusual market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Business Value</a:t>
            </a:r>
          </a:p>
          <a:p>
            <a:pPr>
              <a:buNone/>
            </a:pPr>
            <a:r>
              <a:rPr lang="en-IN" dirty="0"/>
              <a:t>• Automated stock market monitoring.</a:t>
            </a:r>
            <a:br>
              <a:rPr lang="en-IN" dirty="0"/>
            </a:br>
            <a:r>
              <a:rPr lang="en-IN" dirty="0"/>
              <a:t>• Faster decision-making.</a:t>
            </a:r>
            <a:br>
              <a:rPr lang="en-IN" dirty="0"/>
            </a:br>
            <a:r>
              <a:rPr lang="en-IN" dirty="0"/>
              <a:t>• Reduced manual reporting effort.</a:t>
            </a:r>
            <a:br>
              <a:rPr lang="en-IN" dirty="0"/>
            </a:br>
            <a:r>
              <a:rPr lang="en-IN" dirty="0"/>
              <a:t>• Real-time business intelligence support.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E52F27-8E27-A9EE-7F51-F3C7FFF45E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10" r="23221" b="16359"/>
          <a:stretch>
            <a:fillRect/>
          </a:stretch>
        </p:blipFill>
        <p:spPr>
          <a:xfrm>
            <a:off x="5931888" y="1638953"/>
            <a:ext cx="5783100" cy="274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582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5EF44E7-0BA9-B90F-A971-840BF4C3AE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297" r="29373" b="-2"/>
          <a:stretch>
            <a:fillRect/>
          </a:stretch>
        </p:blipFill>
        <p:spPr>
          <a:xfrm rot="16200000">
            <a:off x="4537950" y="-783437"/>
            <a:ext cx="3116099" cy="12192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8348B7-8EA0-A45D-57B1-2FBFC5722B1B}"/>
              </a:ext>
            </a:extLst>
          </p:cNvPr>
          <p:cNvSpPr txBox="1"/>
          <p:nvPr/>
        </p:nvSpPr>
        <p:spPr>
          <a:xfrm>
            <a:off x="1746504" y="71366"/>
            <a:ext cx="9875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Automation, Challenges &amp; Future Improvements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2E13A2-2D8E-7924-1A3D-FC1AEE96FC25}"/>
              </a:ext>
            </a:extLst>
          </p:cNvPr>
          <p:cNvSpPr txBox="1"/>
          <p:nvPr/>
        </p:nvSpPr>
        <p:spPr>
          <a:xfrm>
            <a:off x="911694" y="1395327"/>
            <a:ext cx="58658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Workflow Automation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The ETL pipeline is automated using: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• Windows Task Scheduler</a:t>
            </a:r>
            <a:br>
              <a:rPr lang="en-IN" dirty="0"/>
            </a:br>
            <a:r>
              <a:rPr lang="en-IN" dirty="0"/>
              <a:t>• run_etl.bat</a:t>
            </a:r>
            <a:br>
              <a:rPr lang="en-IN" dirty="0"/>
            </a:br>
            <a:r>
              <a:rPr lang="en-IN" dirty="0"/>
              <a:t>• Python ETL Scripts</a:t>
            </a:r>
          </a:p>
          <a:p>
            <a:r>
              <a:rPr lang="en-IN" dirty="0"/>
              <a:t>• Daily scheduled execution at 08:00 AM using Windows Task Scheduler.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 task runs automatically every day and updates stock market data without manual intervention.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53BC80-5A9C-C154-EB8F-1A6F8AC8818B}"/>
              </a:ext>
            </a:extLst>
          </p:cNvPr>
          <p:cNvSpPr txBox="1"/>
          <p:nvPr/>
        </p:nvSpPr>
        <p:spPr>
          <a:xfrm>
            <a:off x="7381494" y="1211805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Challenges Faced</a:t>
            </a:r>
          </a:p>
          <a:p>
            <a:pPr>
              <a:buNone/>
            </a:pPr>
            <a:r>
              <a:rPr lang="en-IN" dirty="0"/>
              <a:t>• API Integration</a:t>
            </a:r>
            <a:br>
              <a:rPr lang="en-IN" dirty="0"/>
            </a:br>
            <a:r>
              <a:rPr lang="en-IN" dirty="0"/>
              <a:t>• Data Cleaning and Transformation</a:t>
            </a:r>
            <a:br>
              <a:rPr lang="en-IN" dirty="0"/>
            </a:br>
            <a:r>
              <a:rPr lang="en-IN" dirty="0"/>
              <a:t>• PostgreSQL Connectivity</a:t>
            </a:r>
            <a:br>
              <a:rPr lang="en-IN" dirty="0"/>
            </a:br>
            <a:r>
              <a:rPr lang="en-IN" dirty="0"/>
              <a:t>• Dashboard Design</a:t>
            </a:r>
            <a:br>
              <a:rPr lang="en-IN" dirty="0"/>
            </a:br>
            <a:r>
              <a:rPr lang="en-IN" dirty="0"/>
              <a:t>• Workflow Automation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28C5B6-DAA1-9125-4155-B263C313F72D}"/>
              </a:ext>
            </a:extLst>
          </p:cNvPr>
          <p:cNvSpPr txBox="1"/>
          <p:nvPr/>
        </p:nvSpPr>
        <p:spPr>
          <a:xfrm>
            <a:off x="7328916" y="3317054"/>
            <a:ext cx="61996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Future Improvements</a:t>
            </a:r>
          </a:p>
          <a:p>
            <a:pPr>
              <a:buNone/>
            </a:pPr>
            <a:r>
              <a:rPr lang="en-IN" dirty="0"/>
              <a:t>• Multi-stock Analysis</a:t>
            </a:r>
            <a:br>
              <a:rPr lang="en-IN" dirty="0"/>
            </a:br>
            <a:r>
              <a:rPr lang="en-IN" dirty="0"/>
              <a:t>• Real-time Data Streaming</a:t>
            </a:r>
            <a:br>
              <a:rPr lang="en-IN" dirty="0"/>
            </a:br>
            <a:r>
              <a:rPr lang="en-IN" dirty="0"/>
              <a:t>• Machine Learning Forecasting</a:t>
            </a:r>
            <a:br>
              <a:rPr lang="en-IN" dirty="0"/>
            </a:br>
            <a:r>
              <a:rPr lang="en-IN" dirty="0"/>
              <a:t>• Docker Deployment</a:t>
            </a:r>
            <a:br>
              <a:rPr lang="en-IN" dirty="0"/>
            </a:br>
            <a:r>
              <a:rPr lang="en-IN" dirty="0"/>
              <a:t>• Email Alerts for Failures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0FA49D-A13C-6453-8BFC-5FB4949EADA4}"/>
              </a:ext>
            </a:extLst>
          </p:cNvPr>
          <p:cNvSpPr txBox="1"/>
          <p:nvPr/>
        </p:nvSpPr>
        <p:spPr>
          <a:xfrm>
            <a:off x="1914502" y="5646195"/>
            <a:ext cx="90799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/>
              <a:t>Conclusion</a:t>
            </a:r>
          </a:p>
          <a:p>
            <a:pPr algn="ctr">
              <a:buNone/>
            </a:pPr>
            <a:r>
              <a:rPr lang="en-IN" dirty="0"/>
              <a:t>Successfully created an end to end Business Intelligence solution to automate data extraction, transformation, loading, storing and visualization for stock market analytics.</a:t>
            </a:r>
          </a:p>
        </p:txBody>
      </p:sp>
    </p:spTree>
    <p:extLst>
      <p:ext uri="{BB962C8B-B14F-4D97-AF65-F5344CB8AC3E}">
        <p14:creationId xmlns:p14="http://schemas.microsoft.com/office/powerpoint/2010/main" val="893851578"/>
      </p:ext>
    </p:extLst>
  </p:cSld>
  <p:clrMapOvr>
    <a:masterClrMapping/>
  </p:clrMapOvr>
</p:sld>
</file>

<file path=ppt/theme/theme1.xml><?xml version="1.0" encoding="utf-8"?>
<a:theme xmlns:a="http://schemas.openxmlformats.org/drawingml/2006/main" name="BevelVTI">
  <a:themeElements>
    <a:clrScheme name="Custom 148">
      <a:dk1>
        <a:srgbClr val="262626"/>
      </a:dk1>
      <a:lt1>
        <a:sysClr val="window" lastClr="FFFFFF"/>
      </a:lt1>
      <a:dk2>
        <a:srgbClr val="2F333D"/>
      </a:dk2>
      <a:lt2>
        <a:srgbClr val="ECF0F0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Custom 53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velVTI" id="{C9E5F598-602B-46C1-AA16-073CEB959654}" vid="{2AE1FD39-65AD-4D34-93E9-C7019D0ECB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1358</TotalTime>
  <Words>463</Words>
  <Application>Microsoft Office PowerPoint</Application>
  <PresentationFormat>Widescreen</PresentationFormat>
  <Paragraphs>60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Bierstadt</vt:lpstr>
      <vt:lpstr>BevelVTI</vt:lpstr>
      <vt:lpstr>AUTOMATED STOCK MARKET ETL PIPELINE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BENNO Abin</dc:creator>
  <cp:lastModifiedBy>BENNO Abin</cp:lastModifiedBy>
  <cp:revision>8</cp:revision>
  <dcterms:created xsi:type="dcterms:W3CDTF">2026-06-22T14:11:55Z</dcterms:created>
  <dcterms:modified xsi:type="dcterms:W3CDTF">2026-06-23T12:50:44Z</dcterms:modified>
</cp:coreProperties>
</file>