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4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007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34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581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50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09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041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399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14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10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057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35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38E7D36-B1C9-463C-983F-AEA5810A6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B9A221-B33F-47C2-85FF-2C8F363D7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D0E0EF1-7626-4514-9337-271DD661B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F0B1492-9A00-4F80-8771-0BB2C2C43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FAC7B62-8ACC-41ED-80AB-8D1CDF38B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45FF525-9A83-4625-99D9-B267BDE07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144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E8F40E-5D44-1E7B-8B9B-ED47844DC9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1044642" y="-9333"/>
            <a:ext cx="6374929" cy="685800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3FBA02C-51FF-3AAD-1A23-03F2498F5D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9739" y="488173"/>
            <a:ext cx="4435915" cy="424019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b="1" dirty="0" err="1"/>
              <a:t>Programme</a:t>
            </a: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dirty="0"/>
              <a:t>Master in Business Analytics &amp; Data Science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Institution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EU Business School Munich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Lecturer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Dr. Zainab Usman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Academic Year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Spring Semester 2026 (Term III)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Technologies Used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Python | FMP API | Pandas | PostgreSQL | Power BI | Windows Task Scheduler</a:t>
            </a:r>
          </a:p>
          <a:p>
            <a:pPr algn="ctr">
              <a:lnSpc>
                <a:spcPct val="100000"/>
              </a:lnSpc>
            </a:pPr>
            <a:endParaRPr lang="en-US" sz="1600" b="1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8B1629-F209-47B0-BA59-6BD937DBB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F437F9-1959-2F07-2372-C84AB8B43704}"/>
              </a:ext>
            </a:extLst>
          </p:cNvPr>
          <p:cNvSpPr txBox="1"/>
          <p:nvPr/>
        </p:nvSpPr>
        <p:spPr>
          <a:xfrm>
            <a:off x="-1773543" y="4824184"/>
            <a:ext cx="881932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N" b="1" dirty="0"/>
              <a:t>Business Intelligence Final Assignment</a:t>
            </a:r>
          </a:p>
          <a:p>
            <a:pPr algn="ctr">
              <a:spcAft>
                <a:spcPts val="600"/>
              </a:spcAft>
            </a:pPr>
            <a:r>
              <a:rPr lang="en-IN" dirty="0"/>
              <a:t>MADSC301 – Business Intelligence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Submitted By: </a:t>
            </a:r>
            <a:r>
              <a:rPr lang="en-IN" dirty="0"/>
              <a:t>Abin Benno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Student ID:</a:t>
            </a:r>
            <a:r>
              <a:rPr lang="en-IN" dirty="0"/>
              <a:t> 25061274</a:t>
            </a:r>
          </a:p>
          <a:p>
            <a:pPr algn="ctr">
              <a:spcAft>
                <a:spcPts val="600"/>
              </a:spcAft>
            </a:pP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4AF07E-57DA-B65C-5E1C-50A6C0385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970" y="248712"/>
            <a:ext cx="5765442" cy="24234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1" dirty="0"/>
              <a:t>AUTOMATED STOCK MARKET ETL PIPELINE</a:t>
            </a:r>
            <a:br>
              <a:rPr lang="en-US" sz="3400" b="1" dirty="0"/>
            </a:br>
            <a:endParaRPr lang="en-US" sz="3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05C19-2772-0116-D850-EF990797A952}"/>
              </a:ext>
            </a:extLst>
          </p:cNvPr>
          <p:cNvSpPr txBox="1"/>
          <p:nvPr/>
        </p:nvSpPr>
        <p:spPr>
          <a:xfrm>
            <a:off x="6279739" y="5179345"/>
            <a:ext cx="4653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GitHub Repository:</a:t>
            </a:r>
          </a:p>
          <a:p>
            <a:endParaRPr lang="en-US" dirty="0"/>
          </a:p>
          <a:p>
            <a:r>
              <a:rPr lang="en-US" dirty="0"/>
              <a:t>https://github.com/abinb23/stock-market-etl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8559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74A50C2-63EF-22D1-8E0F-2510E266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 rot="10800000">
            <a:off x="7963764" y="0"/>
            <a:ext cx="6374929" cy="68580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DBE8A-A0AD-279C-A1C3-A1464156C376}"/>
              </a:ext>
            </a:extLst>
          </p:cNvPr>
          <p:cNvSpPr txBox="1">
            <a:spLocks/>
          </p:cNvSpPr>
          <p:nvPr/>
        </p:nvSpPr>
        <p:spPr>
          <a:xfrm>
            <a:off x="630649" y="285304"/>
            <a:ext cx="10520580" cy="178308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600"/>
              <a:t>Solution Architecture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0CEE9-35C6-17B9-B426-A31E02B0A2AD}"/>
              </a:ext>
            </a:extLst>
          </p:cNvPr>
          <p:cNvSpPr txBox="1">
            <a:spLocks/>
          </p:cNvSpPr>
          <p:nvPr/>
        </p:nvSpPr>
        <p:spPr>
          <a:xfrm>
            <a:off x="4641703" y="1386495"/>
            <a:ext cx="7010601" cy="3054095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IN" b="1" dirty="0"/>
              <a:t>Business Problem</a:t>
            </a:r>
          </a:p>
          <a:p>
            <a:r>
              <a:rPr lang="en-US" dirty="0"/>
              <a:t>Stock market updates are crucial for investors and analysts to track market performance and spot trends. Manual collection and reporting is time consuming and ineffective.</a:t>
            </a:r>
          </a:p>
          <a:p>
            <a:r>
              <a:rPr lang="en-IN" b="1" dirty="0"/>
              <a:t>Proposed Solution</a:t>
            </a:r>
          </a:p>
          <a:p>
            <a:pPr algn="just"/>
            <a:r>
              <a:rPr lang="en-US" dirty="0"/>
              <a:t>Create an automated ETL pipeline to pull Apple market data and then transform and load the data into PostgreSQL and create the business insights using Power BI.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7B128F-073D-6DC9-FBFF-134786856CA2}"/>
              </a:ext>
            </a:extLst>
          </p:cNvPr>
          <p:cNvSpPr txBox="1"/>
          <p:nvPr/>
        </p:nvSpPr>
        <p:spPr>
          <a:xfrm>
            <a:off x="466298" y="1386495"/>
            <a:ext cx="360117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ETL Architecture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/>
              <a:t>Financial </a:t>
            </a:r>
            <a:r>
              <a:rPr lang="en-IN" sz="1600" dirty="0" err="1"/>
              <a:t>Modeling</a:t>
            </a:r>
            <a:r>
              <a:rPr lang="en-IN" sz="1600" dirty="0"/>
              <a:t> Prep (FMP) API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Extract (Python)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Raw JSON Data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Transform (Pandas)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Cleaned Dataset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Load into PostgreSQL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Windows Task Scheduler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Automatic Daily ETL Execution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Updated PostgreSQL Database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Power BI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15F76-4101-CA74-D166-914C3882FA79}"/>
              </a:ext>
            </a:extLst>
          </p:cNvPr>
          <p:cNvSpPr txBox="1"/>
          <p:nvPr/>
        </p:nvSpPr>
        <p:spPr>
          <a:xfrm>
            <a:off x="4664682" y="4541371"/>
            <a:ext cx="34823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Technologies</a:t>
            </a:r>
          </a:p>
          <a:p>
            <a:r>
              <a:rPr lang="en-IN" dirty="0"/>
              <a:t>• Python</a:t>
            </a:r>
            <a:br>
              <a:rPr lang="en-IN" dirty="0"/>
            </a:br>
            <a:r>
              <a:rPr lang="en-IN" dirty="0"/>
              <a:t>• Requests</a:t>
            </a:r>
            <a:br>
              <a:rPr lang="en-IN" dirty="0"/>
            </a:br>
            <a:r>
              <a:rPr lang="en-IN" dirty="0"/>
              <a:t>• Pandas</a:t>
            </a:r>
            <a:br>
              <a:rPr lang="en-IN" dirty="0"/>
            </a:br>
            <a:r>
              <a:rPr lang="en-IN" dirty="0"/>
              <a:t>• PostgreSQL</a:t>
            </a:r>
            <a:br>
              <a:rPr lang="en-IN" dirty="0"/>
            </a:br>
            <a:r>
              <a:rPr lang="en-IN" dirty="0"/>
              <a:t>• Power BI</a:t>
            </a:r>
            <a:br>
              <a:rPr lang="en-IN" dirty="0"/>
            </a:br>
            <a:r>
              <a:rPr lang="en-IN" dirty="0"/>
              <a:t>• Windows Task Scheduler</a:t>
            </a:r>
          </a:p>
        </p:txBody>
      </p:sp>
    </p:spTree>
    <p:extLst>
      <p:ext uri="{BB962C8B-B14F-4D97-AF65-F5344CB8AC3E}">
        <p14:creationId xmlns:p14="http://schemas.microsoft.com/office/powerpoint/2010/main" val="3220443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16812FF-221D-81D9-9E1C-0CF09F39CA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1546879" y="-2"/>
            <a:ext cx="6374929" cy="68580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BC0418-9EEB-399B-3FD1-7ACF4505CD7B}"/>
              </a:ext>
            </a:extLst>
          </p:cNvPr>
          <p:cNvSpPr txBox="1"/>
          <p:nvPr/>
        </p:nvSpPr>
        <p:spPr>
          <a:xfrm>
            <a:off x="1640586" y="418687"/>
            <a:ext cx="91859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dirty="0"/>
              <a:t>Dashboard Analysis &amp; Business Insights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0CE9E3-2676-119E-5250-B19478CF1947}"/>
              </a:ext>
            </a:extLst>
          </p:cNvPr>
          <p:cNvSpPr txBox="1"/>
          <p:nvPr/>
        </p:nvSpPr>
        <p:spPr>
          <a:xfrm>
            <a:off x="5620512" y="4737747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Key Performance Indicators</a:t>
            </a:r>
          </a:p>
          <a:p>
            <a:pPr algn="ctr">
              <a:buNone/>
            </a:pPr>
            <a:endParaRPr lang="en-IN" b="1" dirty="0"/>
          </a:p>
          <a:p>
            <a:pPr algn="ctr">
              <a:buNone/>
            </a:pPr>
            <a:r>
              <a:rPr lang="en-IN" dirty="0"/>
              <a:t>Highest Closing Price: 315.20</a:t>
            </a:r>
          </a:p>
          <a:p>
            <a:pPr algn="ctr">
              <a:buNone/>
            </a:pPr>
            <a:r>
              <a:rPr lang="en-IN" dirty="0"/>
              <a:t>Lowest Price: 124.17</a:t>
            </a:r>
          </a:p>
          <a:p>
            <a:pPr algn="ctr">
              <a:buNone/>
            </a:pPr>
            <a:r>
              <a:rPr lang="en-IN" dirty="0"/>
              <a:t>Total Trading Volume: 82 Billion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6E7E5-AD5A-ACB3-D8BA-88418FD8FAA0}"/>
              </a:ext>
            </a:extLst>
          </p:cNvPr>
          <p:cNvSpPr txBox="1"/>
          <p:nvPr/>
        </p:nvSpPr>
        <p:spPr>
          <a:xfrm>
            <a:off x="312900" y="1602439"/>
            <a:ext cx="665006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  <a:p>
            <a:pPr algn="ctr">
              <a:buNone/>
            </a:pPr>
            <a:endParaRPr lang="en-IN" b="1" dirty="0"/>
          </a:p>
          <a:p>
            <a:pPr>
              <a:buNone/>
            </a:pPr>
            <a:r>
              <a:rPr lang="en-IN" b="1" dirty="0"/>
              <a:t>Apple Stock Price Trend</a:t>
            </a:r>
          </a:p>
          <a:p>
            <a:pPr>
              <a:buNone/>
            </a:pPr>
            <a:r>
              <a:rPr lang="en-IN" dirty="0"/>
              <a:t>• Shows overall market performance over time.</a:t>
            </a:r>
            <a:br>
              <a:rPr lang="en-IN" dirty="0"/>
            </a:br>
            <a:r>
              <a:rPr lang="en-IN" dirty="0"/>
              <a:t>• Indicates long-term growth trends.</a:t>
            </a:r>
            <a:br>
              <a:rPr lang="en-IN" dirty="0"/>
            </a:br>
            <a:r>
              <a:rPr lang="en-IN" dirty="0"/>
              <a:t>• Useful for investment analysis.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Trading Volume Trend</a:t>
            </a:r>
          </a:p>
          <a:p>
            <a:pPr>
              <a:buNone/>
            </a:pPr>
            <a:r>
              <a:rPr lang="en-IN" dirty="0"/>
              <a:t>• Highlights investor activity.</a:t>
            </a:r>
            <a:br>
              <a:rPr lang="en-IN" dirty="0"/>
            </a:br>
            <a:r>
              <a:rPr lang="en-IN" dirty="0"/>
              <a:t>• Volume spikes periods of increased market interest.</a:t>
            </a:r>
            <a:br>
              <a:rPr lang="en-IN" dirty="0"/>
            </a:br>
            <a:r>
              <a:rPr lang="en-IN" dirty="0"/>
              <a:t>• Helps identify unusual market </a:t>
            </a:r>
            <a:r>
              <a:rPr lang="en-IN" dirty="0" err="1"/>
              <a:t>behavior</a:t>
            </a:r>
            <a:r>
              <a:rPr lang="en-IN" dirty="0"/>
              <a:t>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Business Value</a:t>
            </a:r>
          </a:p>
          <a:p>
            <a:pPr>
              <a:buNone/>
            </a:pPr>
            <a:r>
              <a:rPr lang="en-IN" dirty="0"/>
              <a:t>• Automated stock market monitoring.</a:t>
            </a:r>
            <a:br>
              <a:rPr lang="en-IN" dirty="0"/>
            </a:br>
            <a:r>
              <a:rPr lang="en-IN" dirty="0"/>
              <a:t>• Faster decision-making.</a:t>
            </a:r>
            <a:br>
              <a:rPr lang="en-IN" dirty="0"/>
            </a:br>
            <a:r>
              <a:rPr lang="en-IN" dirty="0"/>
              <a:t>• Reduced manual reporting effort.</a:t>
            </a:r>
            <a:br>
              <a:rPr lang="en-IN" dirty="0"/>
            </a:br>
            <a:r>
              <a:rPr lang="en-IN" dirty="0"/>
              <a:t>• Real-time business intelligence support.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E52F27-8E27-A9EE-7F51-F3C7FFF45E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0" r="23221" b="16359"/>
          <a:stretch>
            <a:fillRect/>
          </a:stretch>
        </p:blipFill>
        <p:spPr>
          <a:xfrm>
            <a:off x="5931888" y="1638953"/>
            <a:ext cx="5783100" cy="274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82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5EF44E7-0BA9-B90F-A971-840BF4C3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 rot="16200000">
            <a:off x="2908536" y="520465"/>
            <a:ext cx="6374929" cy="12192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8348B7-8EA0-A45D-57B1-2FBFC5722B1B}"/>
              </a:ext>
            </a:extLst>
          </p:cNvPr>
          <p:cNvSpPr txBox="1"/>
          <p:nvPr/>
        </p:nvSpPr>
        <p:spPr>
          <a:xfrm>
            <a:off x="1746504" y="71366"/>
            <a:ext cx="9875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/>
              <a:t>Automation, Challenges &amp; Future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E13A2-2D8E-7924-1A3D-FC1AEE96FC25}"/>
              </a:ext>
            </a:extLst>
          </p:cNvPr>
          <p:cNvSpPr txBox="1"/>
          <p:nvPr/>
        </p:nvSpPr>
        <p:spPr>
          <a:xfrm>
            <a:off x="589788" y="1361833"/>
            <a:ext cx="58658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Workflow Automation</a:t>
            </a:r>
          </a:p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The ETL pipeline is automated using: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• Windows Task Scheduler</a:t>
            </a:r>
            <a:br>
              <a:rPr lang="en-IN" dirty="0"/>
            </a:br>
            <a:r>
              <a:rPr lang="en-IN" dirty="0"/>
              <a:t>• run_etl.bat</a:t>
            </a:r>
            <a:br>
              <a:rPr lang="en-IN" dirty="0"/>
            </a:br>
            <a:r>
              <a:rPr lang="en-IN" dirty="0"/>
              <a:t>• Python ETL Scripts</a:t>
            </a:r>
          </a:p>
          <a:p>
            <a:r>
              <a:rPr lang="en-IN" dirty="0"/>
              <a:t>• Daily scheduled execution at 08:00 AM using Windows Task Scheduler.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The task runs automatically every day and updates stock market data without manual intervention.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53BC80-5A9C-C154-EB8F-1A6F8AC8818B}"/>
              </a:ext>
            </a:extLst>
          </p:cNvPr>
          <p:cNvSpPr txBox="1"/>
          <p:nvPr/>
        </p:nvSpPr>
        <p:spPr>
          <a:xfrm>
            <a:off x="7381494" y="1026682"/>
            <a:ext cx="60944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Challenges Faced</a:t>
            </a:r>
          </a:p>
          <a:p>
            <a:pPr>
              <a:buNone/>
            </a:pPr>
            <a:r>
              <a:rPr lang="en-IN" dirty="0"/>
              <a:t>• API Integration</a:t>
            </a:r>
            <a:br>
              <a:rPr lang="en-IN" dirty="0"/>
            </a:br>
            <a:r>
              <a:rPr lang="en-IN" dirty="0"/>
              <a:t>• Data Cleaning and Transformation</a:t>
            </a:r>
            <a:br>
              <a:rPr lang="en-IN" dirty="0"/>
            </a:br>
            <a:r>
              <a:rPr lang="en-IN" dirty="0"/>
              <a:t>• PostgreSQL Connectivity</a:t>
            </a:r>
            <a:br>
              <a:rPr lang="en-IN" dirty="0"/>
            </a:br>
            <a:r>
              <a:rPr lang="en-IN" dirty="0"/>
              <a:t>• Dashboard Design</a:t>
            </a:r>
            <a:br>
              <a:rPr lang="en-IN" dirty="0"/>
            </a:br>
            <a:r>
              <a:rPr lang="en-IN" dirty="0"/>
              <a:t>• Workflow Automation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8C5B6-DAA1-9125-4155-B263C313F72D}"/>
              </a:ext>
            </a:extLst>
          </p:cNvPr>
          <p:cNvSpPr txBox="1"/>
          <p:nvPr/>
        </p:nvSpPr>
        <p:spPr>
          <a:xfrm>
            <a:off x="7381494" y="3151549"/>
            <a:ext cx="61996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Future Improvements</a:t>
            </a:r>
          </a:p>
          <a:p>
            <a:pPr>
              <a:buNone/>
            </a:pPr>
            <a:r>
              <a:rPr lang="en-IN" dirty="0"/>
              <a:t>• Multi-stock Analysis</a:t>
            </a:r>
            <a:br>
              <a:rPr lang="en-IN" dirty="0"/>
            </a:br>
            <a:r>
              <a:rPr lang="en-IN" dirty="0"/>
              <a:t>• Real-time Data Streaming</a:t>
            </a:r>
            <a:br>
              <a:rPr lang="en-IN" dirty="0"/>
            </a:br>
            <a:r>
              <a:rPr lang="en-IN" dirty="0"/>
              <a:t>• Machine Learning Forecasting</a:t>
            </a:r>
            <a:br>
              <a:rPr lang="en-IN" dirty="0"/>
            </a:br>
            <a:r>
              <a:rPr lang="en-IN" dirty="0"/>
              <a:t>• Docker Deployment</a:t>
            </a:r>
            <a:br>
              <a:rPr lang="en-IN" dirty="0"/>
            </a:br>
            <a:r>
              <a:rPr lang="en-IN" dirty="0"/>
              <a:t>• Email Alerts for Failures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0FA49D-A13C-6453-8BFC-5FB4949EADA4}"/>
              </a:ext>
            </a:extLst>
          </p:cNvPr>
          <p:cNvSpPr txBox="1"/>
          <p:nvPr/>
        </p:nvSpPr>
        <p:spPr>
          <a:xfrm>
            <a:off x="1401318" y="5496167"/>
            <a:ext cx="90799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Conclusion</a:t>
            </a:r>
          </a:p>
          <a:p>
            <a:pPr algn="ctr">
              <a:buNone/>
            </a:pPr>
            <a:r>
              <a:rPr lang="en-IN" dirty="0"/>
              <a:t>Successfully created an end to end Business Intelligence solution to automate data extraction, transformation, loading, storing and visualization for stock market analytics.</a:t>
            </a:r>
          </a:p>
        </p:txBody>
      </p:sp>
    </p:spTree>
    <p:extLst>
      <p:ext uri="{BB962C8B-B14F-4D97-AF65-F5344CB8AC3E}">
        <p14:creationId xmlns:p14="http://schemas.microsoft.com/office/powerpoint/2010/main" val="893851578"/>
      </p:ext>
    </p:extLst>
  </p:cSld>
  <p:clrMapOvr>
    <a:masterClrMapping/>
  </p:clrMapOvr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1285</TotalTime>
  <Words>463</Words>
  <Application>Microsoft Office PowerPoint</Application>
  <PresentationFormat>Widescreen</PresentationFormat>
  <Paragraphs>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BevelVTI</vt:lpstr>
      <vt:lpstr>AUTOMATED STOCK MARKET ETL PIPELINE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BENNO Abin</dc:creator>
  <cp:lastModifiedBy>BENNO Abin</cp:lastModifiedBy>
  <cp:revision>6</cp:revision>
  <dcterms:created xsi:type="dcterms:W3CDTF">2026-06-22T14:11:55Z</dcterms:created>
  <dcterms:modified xsi:type="dcterms:W3CDTF">2026-06-23T11:37:04Z</dcterms:modified>
</cp:coreProperties>
</file>